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fle, Prashun - DSU Student" userId="bbf5db89-c6fe-4170-a6e3-529407a72c15" providerId="ADAL" clId="{A33D6E47-C924-476D-B215-88D8F83BCEA1}"/>
    <pc:docChg chg="custSel modSld">
      <pc:chgData name="Kafle, Prashun - DSU Student" userId="bbf5db89-c6fe-4170-a6e3-529407a72c15" providerId="ADAL" clId="{A33D6E47-C924-476D-B215-88D8F83BCEA1}" dt="2026-04-30T15:13:21.994" v="5" actId="26606"/>
      <pc:docMkLst>
        <pc:docMk/>
      </pc:docMkLst>
      <pc:sldChg chg="modSp mod">
        <pc:chgData name="Kafle, Prashun - DSU Student" userId="bbf5db89-c6fe-4170-a6e3-529407a72c15" providerId="ADAL" clId="{A33D6E47-C924-476D-B215-88D8F83BCEA1}" dt="2026-04-30T15:10:32.655" v="2" actId="27636"/>
        <pc:sldMkLst>
          <pc:docMk/>
          <pc:sldMk cId="2870674535" sldId="258"/>
        </pc:sldMkLst>
        <pc:spChg chg="mod">
          <ac:chgData name="Kafle, Prashun - DSU Student" userId="bbf5db89-c6fe-4170-a6e3-529407a72c15" providerId="ADAL" clId="{A33D6E47-C924-476D-B215-88D8F83BCEA1}" dt="2026-04-30T15:10:32.655" v="2" actId="27636"/>
          <ac:spMkLst>
            <pc:docMk/>
            <pc:sldMk cId="2870674535" sldId="258"/>
            <ac:spMk id="3" creationId="{D0D001F3-3760-5C14-D027-5F8E6B15B745}"/>
          </ac:spMkLst>
        </pc:spChg>
      </pc:sldChg>
      <pc:sldChg chg="modSp mod">
        <pc:chgData name="Kafle, Prashun - DSU Student" userId="bbf5db89-c6fe-4170-a6e3-529407a72c15" providerId="ADAL" clId="{A33D6E47-C924-476D-B215-88D8F83BCEA1}" dt="2026-04-30T14:29:47.860" v="0" actId="20577"/>
        <pc:sldMkLst>
          <pc:docMk/>
          <pc:sldMk cId="391129276" sldId="262"/>
        </pc:sldMkLst>
        <pc:spChg chg="mod">
          <ac:chgData name="Kafle, Prashun - DSU Student" userId="bbf5db89-c6fe-4170-a6e3-529407a72c15" providerId="ADAL" clId="{A33D6E47-C924-476D-B215-88D8F83BCEA1}" dt="2026-04-30T14:29:47.860" v="0" actId="20577"/>
          <ac:spMkLst>
            <pc:docMk/>
            <pc:sldMk cId="391129276" sldId="262"/>
            <ac:spMk id="3" creationId="{E4F4F0FA-4AC2-97D1-32C0-F235632A51FF}"/>
          </ac:spMkLst>
        </pc:spChg>
      </pc:sldChg>
      <pc:sldChg chg="addSp delSp modSp mod">
        <pc:chgData name="Kafle, Prashun - DSU Student" userId="bbf5db89-c6fe-4170-a6e3-529407a72c15" providerId="ADAL" clId="{A33D6E47-C924-476D-B215-88D8F83BCEA1}" dt="2026-04-30T15:13:21.994" v="5" actId="26606"/>
        <pc:sldMkLst>
          <pc:docMk/>
          <pc:sldMk cId="1910833368" sldId="263"/>
        </pc:sldMkLst>
        <pc:spChg chg="del">
          <ac:chgData name="Kafle, Prashun - DSU Student" userId="bbf5db89-c6fe-4170-a6e3-529407a72c15" providerId="ADAL" clId="{A33D6E47-C924-476D-B215-88D8F83BCEA1}" dt="2026-04-30T15:13:21.994" v="5" actId="26606"/>
          <ac:spMkLst>
            <pc:docMk/>
            <pc:sldMk cId="1910833368" sldId="263"/>
            <ac:spMk id="17" creationId="{C4879EFC-8E62-4E00-973C-C45EE9EC676D}"/>
          </ac:spMkLst>
        </pc:spChg>
        <pc:spChg chg="del">
          <ac:chgData name="Kafle, Prashun - DSU Student" userId="bbf5db89-c6fe-4170-a6e3-529407a72c15" providerId="ADAL" clId="{A33D6E47-C924-476D-B215-88D8F83BCEA1}" dt="2026-04-30T15:13:21.994" v="5" actId="26606"/>
          <ac:spMkLst>
            <pc:docMk/>
            <pc:sldMk cId="1910833368" sldId="263"/>
            <ac:spMk id="18" creationId="{D6A9C53F-5F90-40A5-8C85-5412D39C8C68}"/>
          </ac:spMkLst>
        </pc:spChg>
        <pc:spChg chg="add">
          <ac:chgData name="Kafle, Prashun - DSU Student" userId="bbf5db89-c6fe-4170-a6e3-529407a72c15" providerId="ADAL" clId="{A33D6E47-C924-476D-B215-88D8F83BCEA1}" dt="2026-04-30T15:13:21.994" v="5" actId="26606"/>
          <ac:spMkLst>
            <pc:docMk/>
            <pc:sldMk cId="1910833368" sldId="263"/>
            <ac:spMk id="23" creationId="{5F9CFCE6-877F-4858-B8BD-2C52CA8AFBC4}"/>
          </ac:spMkLst>
        </pc:spChg>
        <pc:spChg chg="add">
          <ac:chgData name="Kafle, Prashun - DSU Student" userId="bbf5db89-c6fe-4170-a6e3-529407a72c15" providerId="ADAL" clId="{A33D6E47-C924-476D-B215-88D8F83BCEA1}" dt="2026-04-30T15:13:21.994" v="5" actId="26606"/>
          <ac:spMkLst>
            <pc:docMk/>
            <pc:sldMk cId="1910833368" sldId="263"/>
            <ac:spMk id="25" creationId="{8213F8A0-12AE-4514-8372-0DD766EC28EE}"/>
          </ac:spMkLst>
        </pc:spChg>
        <pc:spChg chg="add">
          <ac:chgData name="Kafle, Prashun - DSU Student" userId="bbf5db89-c6fe-4170-a6e3-529407a72c15" providerId="ADAL" clId="{A33D6E47-C924-476D-B215-88D8F83BCEA1}" dt="2026-04-30T15:13:21.994" v="5" actId="26606"/>
          <ac:spMkLst>
            <pc:docMk/>
            <pc:sldMk cId="1910833368" sldId="263"/>
            <ac:spMk id="27" creationId="{9EFF17D4-9A8C-4CE5-B096-D8CCD4400437}"/>
          </ac:spMkLst>
        </pc:spChg>
        <pc:picChg chg="add mod">
          <ac:chgData name="Kafle, Prashun - DSU Student" userId="bbf5db89-c6fe-4170-a6e3-529407a72c15" providerId="ADAL" clId="{A33D6E47-C924-476D-B215-88D8F83BCEA1}" dt="2026-04-30T15:13:21.994" v="5" actId="26606"/>
          <ac:picMkLst>
            <pc:docMk/>
            <pc:sldMk cId="1910833368" sldId="263"/>
            <ac:picMk id="3" creationId="{90CB3675-7932-A33A-83CD-B2691D70D35E}"/>
          </ac:picMkLst>
        </pc:picChg>
        <pc:picChg chg="mod ord">
          <ac:chgData name="Kafle, Prashun - DSU Student" userId="bbf5db89-c6fe-4170-a6e3-529407a72c15" providerId="ADAL" clId="{A33D6E47-C924-476D-B215-88D8F83BCEA1}" dt="2026-04-30T15:13:21.994" v="5" actId="26606"/>
          <ac:picMkLst>
            <pc:docMk/>
            <pc:sldMk cId="1910833368" sldId="263"/>
            <ac:picMk id="5" creationId="{4B0B1C51-898E-23A7-AC8F-96A556AE079D}"/>
          </ac:picMkLst>
        </pc:picChg>
        <pc:picChg chg="del">
          <ac:chgData name="Kafle, Prashun - DSU Student" userId="bbf5db89-c6fe-4170-a6e3-529407a72c15" providerId="ADAL" clId="{A33D6E47-C924-476D-B215-88D8F83BCEA1}" dt="2026-04-30T15:13:14.489" v="3" actId="478"/>
          <ac:picMkLst>
            <pc:docMk/>
            <pc:sldMk cId="1910833368" sldId="263"/>
            <ac:picMk id="7" creationId="{3C8C232D-B08A-0D5A-7B57-BE32955286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6821-8BBD-A1F4-7451-A0E4761D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69F79-A9AA-1141-6E73-924ECD7D1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81F8-A94B-6E49-F52D-C23FE216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6214A-5492-41B9-DAF5-6D00DC6D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543E2-737E-CAEF-0948-CA419BBA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8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E83F-8313-B041-453E-057552D5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8598D-F57F-69EC-A9C2-566F6A451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A457F-123D-3EF1-D727-3212E3C3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65B6D-42B9-3144-8193-33C24F0B6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0570C-0A9E-10E7-2886-8494B4AF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5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0F58-346E-B0C0-EB81-0ED9B28D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B1770-B7B6-3B9F-8E97-EA262D8FC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05C6C-1C7E-6F63-6A5D-2585BBF4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06140-07C3-60B0-3DD4-065CC541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385D7-964D-3D2C-E1C5-17D1B3F9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2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0DA5-3410-57D6-CC3F-739A47A1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0A61B-E540-DD1B-8603-216540D43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E42D8-D163-93F4-310C-99F13EE06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F09D2-D638-C8D0-AEA6-D83EFA48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689ED-C714-2BEE-AD53-3321F4DA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187B1-82B5-2F4E-680D-C642EB86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3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C6E2-8F45-54C4-FFC6-CA866BE5F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6BC7A-DD54-D620-80FB-AB1C3C8EF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4259E-0AFF-EDAB-A4C1-74B7481E5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16F41-AAAC-29A2-1B50-EDE5C1D0B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4623D-C1DD-A567-B25C-23671B982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9472D-40E2-DDF3-8046-5E0BB734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14084F-8864-5D79-B0FE-FA326E42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AFC8F-C84C-D385-618D-6A8D283F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2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0E4B-2513-9372-E33B-65EB55FC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65F90-CF02-A036-23EF-37775084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9C381-E3B9-892A-87B0-027B095E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A512F-4068-7633-4EF8-9AEF479F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7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336BD-BB7A-2CDC-DC67-C1EDAF367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6C67C4-26DE-71D0-814D-77E5B479D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A79A5-9062-72D1-6A11-D3B2219D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3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9A80-2F75-D876-8490-3D4C03A2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5622B-3B7D-7EE9-D2C3-2461498F6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2A812-CDA7-B159-4994-A1B86D138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BFEBA-4428-1855-8DF9-C2FE5DBF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2D9E8-2AF0-9C0F-CA4C-F450E3AE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86117-1ABE-AEC7-B88F-ACC55FAE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A09A-D6C2-76B9-F452-F2CFC52B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39CD9-566F-1493-4596-64AFEB1CD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7869E-1DB1-B274-F0B2-3C13EC57C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DAFD1-4867-0600-07CF-6C1DAA7F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35F1D-8673-6CA3-166F-ADB66B8F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CA134-E3ED-939C-E503-BD0200C0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88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D686-01AD-751E-E1F3-A02EE05E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7812F-083D-4FEB-B321-E4E0803A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DDA6F-1572-6C93-0D33-A30A00AD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F085-473C-BD7E-4D8A-68B8D5FF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18831-F6EA-4F67-85F8-2D2E5B2D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1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C8A42-A8AC-E5C5-72D3-6C9723D98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40C2F-F8FB-7D6F-FD98-643A41E27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5403D-3AE1-9C79-E79D-4E03D65E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AD68C-B6F1-42D8-CBED-ABCD17A9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4300C-5C50-F317-FBD8-4923A98B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BCDBA-D19E-40CB-758F-801DFEE0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E127A-49C6-3EE2-35DA-B2C60677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1FE21-7B40-4EC5-32EF-CDA878193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73D38-67D7-41DF-904A-9FBD64F4C31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17B03-F4E1-5129-29D4-FAE370BD5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B5FB-6881-3158-2526-03039CA87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DA67F-DDB4-4C30-834B-03A6D32B4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Video 14" descr="Box Packages">
            <a:extLst>
              <a:ext uri="{FF2B5EF4-FFF2-40B4-BE49-F238E27FC236}">
                <a16:creationId xmlns:a16="http://schemas.microsoft.com/office/drawing/2014/main" id="{01962500-644B-C317-86DC-787369A58B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C8DE0-2974-7834-4EEC-C83E9D746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Predicting the Volume of Border-Crossing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15BD4-7D68-3033-D59B-DE5862DAF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- Prashun Kafle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32E23-A1C4-E5AE-50F7-E06C143E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E0494-32A9-A2D8-093C-0B0A39771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/>
              <a:t>Estimate the crossing volumes by port, border, measure type, and month.</a:t>
            </a:r>
          </a:p>
          <a:p>
            <a:pPr marL="0" indent="0">
              <a:buNone/>
            </a:pPr>
            <a:r>
              <a:rPr lang="en-US" sz="1900"/>
              <a:t>Main Predictors used: </a:t>
            </a:r>
          </a:p>
          <a:p>
            <a:r>
              <a:rPr lang="en-US" sz="1900"/>
              <a:t>Port and date</a:t>
            </a:r>
          </a:p>
          <a:p>
            <a:r>
              <a:rPr lang="en-US" sz="1900"/>
              <a:t>Border type</a:t>
            </a:r>
          </a:p>
          <a:p>
            <a:r>
              <a:rPr lang="en-US" sz="1900"/>
              <a:t>Crossing category</a:t>
            </a:r>
          </a:p>
          <a:p>
            <a:r>
              <a:rPr lang="en-US" sz="1900"/>
              <a:t>Latitude/longitude</a:t>
            </a:r>
          </a:p>
          <a:p>
            <a:r>
              <a:rPr lang="en-US" sz="1900"/>
              <a:t>Year, month, seasonal month encoding</a:t>
            </a:r>
          </a:p>
          <a:p>
            <a:r>
              <a:rPr lang="en-US" sz="1900"/>
              <a:t>Lag and rolling historical volume</a:t>
            </a:r>
          </a:p>
        </p:txBody>
      </p:sp>
      <p:pic>
        <p:nvPicPr>
          <p:cNvPr id="5" name="Picture 4" descr="Analog board showing flight information">
            <a:extLst>
              <a:ext uri="{FF2B5EF4-FFF2-40B4-BE49-F238E27FC236}">
                <a16:creationId xmlns:a16="http://schemas.microsoft.com/office/drawing/2014/main" id="{A31F01F4-D28A-A195-4721-D26B527DB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63" r="2203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5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464BD-F7C4-5CDB-E3CB-51030782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/>
              <a:t>Previous work: Data Cleaning and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001F3-3760-5C14-D027-5F8E6B15B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Cleaning Mechanisms:</a:t>
            </a:r>
          </a:p>
          <a:p>
            <a:r>
              <a:rPr lang="en-US" sz="2000" dirty="0"/>
              <a:t>Dropped duplicate point coordinates, filled missing data, parsed date into year and month, removed duplicates</a:t>
            </a:r>
          </a:p>
          <a:p>
            <a:pPr marL="0" indent="0">
              <a:buNone/>
            </a:pPr>
            <a:r>
              <a:rPr lang="en-US" sz="2000" dirty="0"/>
              <a:t>Feature engineering that raised accuracy:</a:t>
            </a:r>
          </a:p>
          <a:p>
            <a:r>
              <a:rPr lang="en-US" sz="2000" dirty="0"/>
              <a:t>Label-encoded categorical fields, sorted by port, measure, and date, created lag_1 and lag_3 history, added rolling mean and standard deviation, encoded seasonality with month sin/cos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B9E7C-0CEA-6A52-DB44-DA262378D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830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7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84B14-F79B-F279-7139-314D3AE0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1B3C2-A3CF-A5D6-2AFA-8804E9B1C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Linear Regression: Baseline Model to get an idea of the predictions,</a:t>
            </a:r>
          </a:p>
          <a:p>
            <a:r>
              <a:rPr lang="en-US" sz="2000"/>
              <a:t>Random Forest: Best balance of accuracy and non-linear pattern capture,</a:t>
            </a:r>
          </a:p>
          <a:p>
            <a:r>
              <a:rPr lang="en-US" sz="2000"/>
              <a:t>Histogram Gradient Boosting: Ensemble of trees to get a better idea of how the dataset behaves.</a:t>
            </a:r>
          </a:p>
          <a:p>
            <a:pPr marL="0" indent="0">
              <a:buNone/>
            </a:pPr>
            <a:r>
              <a:rPr lang="en-US" sz="2000"/>
              <a:t>Best Model: Random Forest </a:t>
            </a:r>
          </a:p>
        </p:txBody>
      </p:sp>
      <p:pic>
        <p:nvPicPr>
          <p:cNvPr id="5" name="Picture 4" descr="Beech tree trunks in fog">
            <a:extLst>
              <a:ext uri="{FF2B5EF4-FFF2-40B4-BE49-F238E27FC236}">
                <a16:creationId xmlns:a16="http://schemas.microsoft.com/office/drawing/2014/main" id="{4A01AA44-E667-5DE6-B723-A1100A19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20" r="1457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1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E6D0F-E388-588A-B2B6-95A661AC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3700"/>
              <a:t>Major findings/lessons using the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EC2CC-79E2-F255-0315-78C90E863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r>
              <a:rPr lang="en-US" sz="2000"/>
              <a:t>Learned a lot of new libraries</a:t>
            </a:r>
          </a:p>
          <a:p>
            <a:r>
              <a:rPr lang="en-US" sz="2000"/>
              <a:t>Too complex feature engineering will make things complex, and the model will overfit.</a:t>
            </a:r>
          </a:p>
          <a:p>
            <a:r>
              <a:rPr lang="en-US" sz="2000"/>
              <a:t>Time-based data splits are great for future forecasting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B0615-8925-5147-5A6C-99FE85EB5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81905"/>
            <a:ext cx="5334197" cy="5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07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1AE4B-5318-062F-8227-16D86BC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US" sz="4000"/>
              <a:t>Highlights and Lowlights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C2390-315B-0CFD-8D7E-40F1A31AA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449168"/>
            <a:ext cx="5804955" cy="35929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C2D10-A7C8-97F4-FC2E-270C2FC39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Highlights:</a:t>
            </a:r>
          </a:p>
          <a:p>
            <a:r>
              <a:rPr lang="en-US" sz="2000"/>
              <a:t>Got to use a bunch of cool models</a:t>
            </a:r>
          </a:p>
          <a:p>
            <a:r>
              <a:rPr lang="en-US" sz="2000"/>
              <a:t>Learned a lot more about feature engineering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/>
              <a:t>Lowlights:</a:t>
            </a:r>
          </a:p>
          <a:p>
            <a:r>
              <a:rPr lang="en-US" sz="2000"/>
              <a:t>Overfitting was a big problem</a:t>
            </a:r>
          </a:p>
          <a:p>
            <a:r>
              <a:rPr lang="en-US" sz="2000"/>
              <a:t>Models took ages to run</a:t>
            </a:r>
          </a:p>
        </p:txBody>
      </p:sp>
    </p:spTree>
    <p:extLst>
      <p:ext uri="{BB962C8B-B14F-4D97-AF65-F5344CB8AC3E}">
        <p14:creationId xmlns:p14="http://schemas.microsoft.com/office/powerpoint/2010/main" val="107706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E9C73-2808-0F2A-4D44-BD32448C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Deployment plan using CRISP-DM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F0FA-4AC2-97D1-32C0-F235632A5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Where it could be used: DHS/immigration and border operations planners.</a:t>
            </a:r>
          </a:p>
          <a:p>
            <a:pPr marL="0" indent="0">
              <a:buNone/>
            </a:pPr>
            <a:r>
              <a:rPr lang="en-US" sz="1600" dirty="0"/>
              <a:t>How:</a:t>
            </a:r>
          </a:p>
          <a:p>
            <a:r>
              <a:rPr lang="en-US" sz="1600" dirty="0"/>
              <a:t>Intake monthly port-of-entry crossing records.</a:t>
            </a:r>
          </a:p>
          <a:p>
            <a:r>
              <a:rPr lang="en-US" sz="1600" dirty="0"/>
              <a:t>Apply the saved cleaning + feature pipeline.</a:t>
            </a:r>
          </a:p>
          <a:p>
            <a:r>
              <a:rPr lang="en-US" sz="1600" dirty="0"/>
              <a:t>Forecast volume by port, border, month, and crossing type.</a:t>
            </a:r>
          </a:p>
          <a:p>
            <a:r>
              <a:rPr lang="en-US" sz="1600" dirty="0"/>
              <a:t>Flag abnormal volume compared with expected traffic.</a:t>
            </a:r>
          </a:p>
          <a:p>
            <a:r>
              <a:rPr lang="en-US" sz="1600" dirty="0"/>
              <a:t>Give outputs that assist staffing, lane planning, and equipment allocation.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22CAF-2458-270A-DB9E-358061F15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61902"/>
            <a:ext cx="5334197" cy="53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9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B3675-7932-A33A-83CD-B2691D70D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35" y="864108"/>
            <a:ext cx="5129784" cy="51297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0B1C51-898E-23A7-AC8F-96A556AE0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1180" y="2332509"/>
            <a:ext cx="5129784" cy="21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3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309</Words>
  <Application>Microsoft Office PowerPoint</Application>
  <PresentationFormat>Widescreen</PresentationFormat>
  <Paragraphs>41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Predicting the Volume of Border-Crossing</vt:lpstr>
      <vt:lpstr>Problem Statement</vt:lpstr>
      <vt:lpstr>Previous work: Data Cleaning and Feature Engineering</vt:lpstr>
      <vt:lpstr>Models Used</vt:lpstr>
      <vt:lpstr>Major findings/lessons using the models</vt:lpstr>
      <vt:lpstr>Highlights and Lowlights</vt:lpstr>
      <vt:lpstr>Deployment plan using CRISP-DM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Kafle, Prashun - DSU Student</dc:creator>
  <cp:lastModifiedBy>Kafle, Prashun - DSU Student</cp:lastModifiedBy>
  <cp:revision>1</cp:revision>
  <dcterms:created xsi:type="dcterms:W3CDTF">2026-04-30T03:10:07Z</dcterms:created>
  <dcterms:modified xsi:type="dcterms:W3CDTF">2026-04-30T15:13:24Z</dcterms:modified>
</cp:coreProperties>
</file>